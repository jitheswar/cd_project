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XCC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NEXCC / PROJECT PRESENTATION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5925312"/>
            <a:ext cx="11018520" cy="0"/>
          </a:xfrm>
          <a:prstGeom prst="line">
            <a:avLst/>
          </a:prstGeom>
          <a:noFill/>
          <a:ln w="29210">
            <a:solidFill>
              <a:srgbClr val="54D7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2940" y="5856732"/>
            <a:ext cx="137160" cy="137160"/>
          </a:xfrm>
          <a:prstGeom prst="ellipse">
            <a:avLst/>
          </a:prstGeom>
          <a:solidFill>
            <a:srgbClr val="6EF0B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28900" y="5856732"/>
            <a:ext cx="137160" cy="137160"/>
          </a:xfrm>
          <a:prstGeom prst="ellipse">
            <a:avLst/>
          </a:prstGeom>
          <a:solidFill>
            <a:srgbClr val="54D7FF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30852" y="5856732"/>
            <a:ext cx="137160" cy="137160"/>
          </a:xfrm>
          <a:prstGeom prst="ellipse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52260" y="5856732"/>
            <a:ext cx="137160" cy="13716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46820" y="5856732"/>
            <a:ext cx="137160" cy="137160"/>
          </a:xfrm>
          <a:prstGeom prst="ellipse">
            <a:avLst/>
          </a:prstGeom>
          <a:solidFill>
            <a:srgbClr val="6AA6FF"/>
          </a:solidFill>
          <a:ln w="12700">
            <a:solidFill>
              <a:srgbClr val="6AA6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95660" y="5856732"/>
            <a:ext cx="137160" cy="137160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10515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NexCC</a:t>
            </a:r>
            <a:endParaRPr lang="en-US" sz="5400" dirty="0"/>
          </a:p>
        </p:txBody>
      </p:sp>
      <p:sp>
        <p:nvSpPr>
          <p:cNvPr id="44" name="Text 42"/>
          <p:cNvSpPr/>
          <p:nvPr/>
        </p:nvSpPr>
        <p:spPr>
          <a:xfrm>
            <a:off x="612648" y="1993392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COMPILER WHERE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IS HIDDEN</a:t>
            </a:r>
            <a:endParaRPr lang="en-US" sz="2300" dirty="0"/>
          </a:p>
        </p:txBody>
      </p:sp>
      <p:sp>
        <p:nvSpPr>
          <p:cNvPr id="45" name="Text 43"/>
          <p:cNvSpPr/>
          <p:nvPr/>
        </p:nvSpPr>
        <p:spPr>
          <a:xfrm>
            <a:off x="621792" y="331927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Optimizing Compiler &amp; Compiler Construction Workbench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0936" y="4096512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151E2A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4088" y="415137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481328" y="4096512"/>
            <a:ext cx="877824" cy="310896"/>
          </a:xfrm>
          <a:prstGeom prst="roundRect">
            <a:avLst>
              <a:gd name="adj" fmla="val 47059"/>
            </a:avLst>
          </a:prstGeom>
          <a:solidFill>
            <a:srgbClr val="151E2A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54480" y="41513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68880" y="4096512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151E2A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2032" y="415137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RV32IM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39312" y="4096512"/>
            <a:ext cx="685800" cy="310896"/>
          </a:xfrm>
          <a:prstGeom prst="roundRect">
            <a:avLst>
              <a:gd name="adj" fmla="val 47059"/>
            </a:avLst>
          </a:prstGeom>
          <a:solidFill>
            <a:srgbClr val="151E2A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12464" y="4151376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9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443984" y="409651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151E2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17136" y="415137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TIME-TRAVEL VM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46520" y="1024128"/>
            <a:ext cx="5102352" cy="4370832"/>
          </a:xfrm>
          <a:prstGeom prst="roundRect">
            <a:avLst>
              <a:gd name="adj" fmla="val 2929"/>
            </a:avLst>
          </a:prstGeom>
          <a:solidFill>
            <a:srgbClr val="0B1118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11696" y="12435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compile.trace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812280" y="1874520"/>
            <a:ext cx="1024128" cy="475488"/>
          </a:xfrm>
          <a:prstGeom prst="roundRect">
            <a:avLst>
              <a:gd name="adj" fmla="val 23077"/>
            </a:avLst>
          </a:prstGeom>
          <a:solidFill>
            <a:srgbClr val="111A24"/>
          </a:solidFill>
          <a:ln w="16510">
            <a:solidFill>
              <a:srgbClr val="6EF0B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67144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SOURCE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558784" y="1874520"/>
            <a:ext cx="1024128" cy="475488"/>
          </a:xfrm>
          <a:prstGeom prst="roundRect">
            <a:avLst>
              <a:gd name="adj" fmla="val 23077"/>
            </a:avLst>
          </a:prstGeom>
          <a:solidFill>
            <a:srgbClr val="111A24"/>
          </a:solidFill>
          <a:ln w="16510">
            <a:solidFill>
              <a:srgbClr val="54D7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13648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TOKENS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0241280" y="1874520"/>
            <a:ext cx="1024128" cy="475488"/>
          </a:xfrm>
          <a:prstGeom prst="roundRect">
            <a:avLst>
              <a:gd name="adj" fmla="val 23077"/>
            </a:avLst>
          </a:prstGeom>
          <a:solidFill>
            <a:srgbClr val="111A24"/>
          </a:solidFill>
          <a:ln w="16510">
            <a:solidFill>
              <a:srgbClr val="B99C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296144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AST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812280" y="3063240"/>
            <a:ext cx="1024128" cy="475488"/>
          </a:xfrm>
          <a:prstGeom prst="roundRect">
            <a:avLst>
              <a:gd name="adj" fmla="val 23077"/>
            </a:avLst>
          </a:prstGeom>
          <a:solidFill>
            <a:srgbClr val="111A24"/>
          </a:solidFill>
          <a:ln w="16510">
            <a:solidFill>
              <a:srgbClr val="FFC85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67144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TAC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558784" y="3063240"/>
            <a:ext cx="1024128" cy="475488"/>
          </a:xfrm>
          <a:prstGeom prst="roundRect">
            <a:avLst>
              <a:gd name="adj" fmla="val 23077"/>
            </a:avLst>
          </a:prstGeom>
          <a:solidFill>
            <a:srgbClr val="111A24"/>
          </a:solidFill>
          <a:ln w="16510">
            <a:solidFill>
              <a:srgbClr val="B99C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13648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SSA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0241280" y="3063240"/>
            <a:ext cx="1024128" cy="475488"/>
          </a:xfrm>
          <a:prstGeom prst="roundRect">
            <a:avLst>
              <a:gd name="adj" fmla="val 23077"/>
            </a:avLst>
          </a:prstGeom>
          <a:solidFill>
            <a:srgbClr val="111A24"/>
          </a:solidFill>
          <a:ln w="16510">
            <a:solidFill>
              <a:srgbClr val="6AA6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296144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AA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MIR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498080" y="4224528"/>
            <a:ext cx="1024128" cy="475488"/>
          </a:xfrm>
          <a:prstGeom prst="roundRect">
            <a:avLst>
              <a:gd name="adj" fmla="val 23077"/>
            </a:avLst>
          </a:prstGeom>
          <a:solidFill>
            <a:srgbClr val="111A24"/>
          </a:solidFill>
          <a:ln w="16510">
            <a:solidFill>
              <a:srgbClr val="FF6B7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52944" y="4361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7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VM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436608" y="4224528"/>
            <a:ext cx="1024128" cy="475488"/>
          </a:xfrm>
          <a:prstGeom prst="roundRect">
            <a:avLst>
              <a:gd name="adj" fmla="val 23077"/>
            </a:avLst>
          </a:prstGeom>
          <a:solidFill>
            <a:srgbClr val="111A24"/>
          </a:solidFill>
          <a:ln w="16510">
            <a:solidFill>
              <a:srgbClr val="6EF0B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91472" y="4361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RV32IM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836408" y="2112264"/>
            <a:ext cx="722376" cy="0"/>
          </a:xfrm>
          <a:prstGeom prst="line">
            <a:avLst/>
          </a:prstGeom>
          <a:noFill/>
          <a:ln w="1524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9582912" y="2112264"/>
            <a:ext cx="658368" cy="0"/>
          </a:xfrm>
          <a:prstGeom prst="line">
            <a:avLst/>
          </a:prstGeom>
          <a:noFill/>
          <a:ln w="1524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10753344" y="2350008"/>
            <a:ext cx="0" cy="713232"/>
          </a:xfrm>
          <a:prstGeom prst="line">
            <a:avLst/>
          </a:prstGeom>
          <a:noFill/>
          <a:ln w="1524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10241280" y="3300984"/>
            <a:ext cx="-658368" cy="0"/>
          </a:xfrm>
          <a:prstGeom prst="line">
            <a:avLst/>
          </a:prstGeom>
          <a:noFill/>
          <a:ln w="1524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8558784" y="3300984"/>
            <a:ext cx="-722376" cy="0"/>
          </a:xfrm>
          <a:prstGeom prst="line">
            <a:avLst/>
          </a:prstGeom>
          <a:noFill/>
          <a:ln w="1524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7333488" y="3538728"/>
            <a:ext cx="493776" cy="685800"/>
          </a:xfrm>
          <a:prstGeom prst="line">
            <a:avLst/>
          </a:prstGeom>
          <a:noFill/>
          <a:ln w="1524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9070848" y="3538728"/>
            <a:ext cx="850392" cy="685800"/>
          </a:xfrm>
          <a:prstGeom prst="line">
            <a:avLst/>
          </a:prstGeom>
          <a:noFill/>
          <a:ln w="1524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6720840" y="480974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transformation is inspectable. Every backend is testable.</a:t>
            </a:r>
            <a:endParaRPr lang="en-US" sz="1150" dirty="0"/>
          </a:p>
        </p:txBody>
      </p:sp>
      <p:sp>
        <p:nvSpPr>
          <p:cNvPr id="82" name="Text 80"/>
          <p:cNvSpPr/>
          <p:nvPr/>
        </p:nvSpPr>
        <p:spPr>
          <a:xfrm>
            <a:off x="621792" y="61904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N. Rithvik Sai  ·  Ch. Jitheswar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7772400" y="6190488"/>
            <a:ext cx="3767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Guide: Dr. Krishna Kishore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NEXCC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68580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middle of compilation is usually invisible.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8640" y="13441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see either disconnected textbook tools — or production compilers too large to learn from.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94360" y="1965960"/>
            <a:ext cx="4800600" cy="3520440"/>
          </a:xfrm>
          <a:prstGeom prst="roundRect">
            <a:avLst>
              <a:gd name="adj" fmla="val 3636"/>
            </a:avLst>
          </a:prstGeom>
          <a:solidFill>
            <a:srgbClr val="10161E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2221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TEXTBOOK FRAGMENTS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4400" y="2743200"/>
            <a:ext cx="1600200" cy="566928"/>
          </a:xfrm>
          <a:prstGeom prst="roundRect">
            <a:avLst>
              <a:gd name="adj" fmla="val 22581"/>
            </a:avLst>
          </a:prstGeom>
          <a:solidFill>
            <a:srgbClr val="151E2A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7552" y="292608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regex → NFA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2880360" y="2743200"/>
            <a:ext cx="1600200" cy="566928"/>
          </a:xfrm>
          <a:prstGeom prst="roundRect">
            <a:avLst>
              <a:gd name="adj" fmla="val 22581"/>
            </a:avLst>
          </a:prstGeom>
          <a:solidFill>
            <a:srgbClr val="151E2A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53512" y="292608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FIRST / FOLLOW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914400" y="3657600"/>
            <a:ext cx="1600200" cy="566928"/>
          </a:xfrm>
          <a:prstGeom prst="roundRect">
            <a:avLst>
              <a:gd name="adj" fmla="val 22581"/>
            </a:avLst>
          </a:prstGeom>
          <a:solidFill>
            <a:srgbClr val="151E2A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552" y="384048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LR tables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2880360" y="3657600"/>
            <a:ext cx="1600200" cy="566928"/>
          </a:xfrm>
          <a:prstGeom prst="roundRect">
            <a:avLst>
              <a:gd name="adj" fmla="val 22581"/>
            </a:avLst>
          </a:prstGeom>
          <a:solidFill>
            <a:srgbClr val="151E2A"/>
          </a:solidFill>
          <a:ln w="12700">
            <a:solidFill>
              <a:srgbClr val="6AA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53512" y="384048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AA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CFG / DAG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1874520" y="4572000"/>
            <a:ext cx="1600200" cy="566928"/>
          </a:xfrm>
          <a:prstGeom prst="roundRect">
            <a:avLst>
              <a:gd name="adj" fmla="val 22581"/>
            </a:avLst>
          </a:prstGeom>
          <a:solidFill>
            <a:srgbClr val="151E2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47672" y="475488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6B7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LEX / YACC</a:t>
            </a:r>
            <a:endParaRPr lang="en-US" sz="940" dirty="0"/>
          </a:p>
        </p:txBody>
      </p:sp>
      <p:sp>
        <p:nvSpPr>
          <p:cNvPr id="50" name="Text 48"/>
          <p:cNvSpPr/>
          <p:nvPr/>
        </p:nvSpPr>
        <p:spPr>
          <a:xfrm>
            <a:off x="1143000" y="5047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concepts. No continuous pipeline.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784848" y="1965960"/>
            <a:ext cx="4800600" cy="3520440"/>
          </a:xfrm>
          <a:prstGeom prst="roundRect">
            <a:avLst>
              <a:gd name="adj" fmla="val 3636"/>
            </a:avLst>
          </a:prstGeom>
          <a:solidFill>
            <a:srgbClr val="10161E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0024" y="22219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INDUSTRIAL BLACK BOX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60920" y="2852928"/>
            <a:ext cx="1143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LLVM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GCC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rustc</a:t>
            </a:r>
            <a:endParaRPr lang="en-US" sz="2400" dirty="0"/>
          </a:p>
        </p:txBody>
      </p:sp>
      <p:sp>
        <p:nvSpPr>
          <p:cNvPr id="54" name="Shape 52"/>
          <p:cNvSpPr/>
          <p:nvPr/>
        </p:nvSpPr>
        <p:spPr>
          <a:xfrm>
            <a:off x="8851392" y="3054096"/>
            <a:ext cx="914400" cy="685800"/>
          </a:xfrm>
          <a:prstGeom prst="chevron">
            <a:avLst/>
          </a:prstGeom>
          <a:solidFill>
            <a:srgbClr val="26324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93808" y="2907792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optimized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IR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360920" y="46817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Powerful — but classical stages disappear inside millions of lines.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276088" y="2990088"/>
            <a:ext cx="1645920" cy="1389888"/>
          </a:xfrm>
          <a:prstGeom prst="roundRect">
            <a:avLst>
              <a:gd name="adj" fmla="val 10526"/>
            </a:avLst>
          </a:prstGeom>
          <a:solidFill>
            <a:srgbClr val="0D141D"/>
          </a:solidFill>
          <a:ln w="16510">
            <a:solidFill>
              <a:srgbClr val="54D7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31536" y="3264408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315968" y="58247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NexCC makes the middle inspectable.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IDEA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68580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systems. One workbench.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8640" y="13441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educational laboratory explains compiler theory; the production compiler proves it end-to-end.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1993392"/>
            <a:ext cx="5166360" cy="3566160"/>
          </a:xfrm>
          <a:prstGeom prst="roundRect">
            <a:avLst>
              <a:gd name="adj" fmla="val 3590"/>
            </a:avLst>
          </a:prstGeom>
          <a:solidFill>
            <a:srgbClr val="10161E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22677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COMPILER CONSTRUCTION LAB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14400" y="2743200"/>
            <a:ext cx="4480560" cy="960120"/>
          </a:xfrm>
          <a:prstGeom prst="roundRect">
            <a:avLst>
              <a:gd name="adj" fmla="val 13333"/>
            </a:avLst>
          </a:prstGeom>
          <a:solidFill>
            <a:srgbClr val="11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4128" y="29260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2500" dirty="0"/>
          </a:p>
        </p:txBody>
      </p:sp>
      <p:sp>
        <p:nvSpPr>
          <p:cNvPr id="42" name="Text 40"/>
          <p:cNvSpPr/>
          <p:nvPr/>
        </p:nvSpPr>
        <p:spPr>
          <a:xfrm>
            <a:off x="1691640" y="28895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Automata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691640" y="320954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Regex → NFA → DFA → minimized DFA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914400" y="3776472"/>
            <a:ext cx="4480560" cy="960120"/>
          </a:xfrm>
          <a:prstGeom prst="roundRect">
            <a:avLst>
              <a:gd name="adj" fmla="val 13333"/>
            </a:avLst>
          </a:prstGeom>
          <a:solidFill>
            <a:srgbClr val="11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4128" y="395935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1691640" y="392277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Grammar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691640" y="424281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FIRST/FOLLOW · LL(1) · LR(0) · SLR · CLR · LALR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914400" y="4809744"/>
            <a:ext cx="4480560" cy="960120"/>
          </a:xfrm>
          <a:prstGeom prst="roundRect">
            <a:avLst>
              <a:gd name="adj" fmla="val 13333"/>
            </a:avLst>
          </a:prstGeom>
          <a:solidFill>
            <a:srgbClr val="11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4128" y="499262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2500" dirty="0"/>
          </a:p>
        </p:txBody>
      </p:sp>
      <p:sp>
        <p:nvSpPr>
          <p:cNvPr id="50" name="Text 48"/>
          <p:cNvSpPr/>
          <p:nvPr/>
        </p:nvSpPr>
        <p:spPr>
          <a:xfrm>
            <a:off x="1691640" y="495604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Translation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691640" y="527608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SDD / SDT · attributes · safe action DSL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6382512" y="1993392"/>
            <a:ext cx="5166360" cy="3566160"/>
          </a:xfrm>
          <a:prstGeom prst="roundRect">
            <a:avLst>
              <a:gd name="adj" fmla="val 3590"/>
            </a:avLst>
          </a:prstGeom>
          <a:solidFill>
            <a:srgbClr val="10161E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56832" y="22677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NEXCC PRODUCTION COMPILER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656832" y="2743200"/>
            <a:ext cx="4480560" cy="960120"/>
          </a:xfrm>
          <a:prstGeom prst="roundRect">
            <a:avLst>
              <a:gd name="adj" fmla="val 13333"/>
            </a:avLst>
          </a:prstGeom>
          <a:solidFill>
            <a:srgbClr val="11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0" y="29260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</a:t>
            </a:r>
            <a:endParaRPr lang="en-US" sz="2500" dirty="0"/>
          </a:p>
        </p:txBody>
      </p:sp>
      <p:sp>
        <p:nvSpPr>
          <p:cNvPr id="56" name="Text 54"/>
          <p:cNvSpPr/>
          <p:nvPr/>
        </p:nvSpPr>
        <p:spPr>
          <a:xfrm>
            <a:off x="7434072" y="28895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434072" y="320954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subset → AST → typed HIR → TAC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6656832" y="3776472"/>
            <a:ext cx="4480560" cy="960120"/>
          </a:xfrm>
          <a:prstGeom prst="roundRect">
            <a:avLst>
              <a:gd name="adj" fmla="val 13333"/>
            </a:avLst>
          </a:prstGeom>
          <a:solidFill>
            <a:srgbClr val="11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66560" y="395935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</a:t>
            </a:r>
            <a:endParaRPr lang="en-US" sz="2500" dirty="0"/>
          </a:p>
        </p:txBody>
      </p:sp>
      <p:sp>
        <p:nvSpPr>
          <p:cNvPr id="60" name="Text 58"/>
          <p:cNvSpPr/>
          <p:nvPr/>
        </p:nvSpPr>
        <p:spPr>
          <a:xfrm>
            <a:off x="7434072" y="392277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434072" y="424281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CFG → SSA → SCCP / GVN / LICM / DCE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6656832" y="4809744"/>
            <a:ext cx="4480560" cy="960120"/>
          </a:xfrm>
          <a:prstGeom prst="roundRect">
            <a:avLst>
              <a:gd name="adj" fmla="val 13333"/>
            </a:avLst>
          </a:prstGeom>
          <a:solidFill>
            <a:srgbClr val="11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66560" y="499262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</a:t>
            </a:r>
            <a:endParaRPr lang="en-US" sz="2500" dirty="0"/>
          </a:p>
        </p:txBody>
      </p:sp>
      <p:sp>
        <p:nvSpPr>
          <p:cNvPr id="64" name="Text 62"/>
          <p:cNvSpPr/>
          <p:nvPr/>
        </p:nvSpPr>
        <p:spPr>
          <a:xfrm>
            <a:off x="7434072" y="495604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434072" y="527608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RV32IM + Bytecode VM + time travel</a:t>
            </a:r>
            <a:endParaRPr lang="en-US" sz="920" dirty="0"/>
          </a:p>
        </p:txBody>
      </p:sp>
      <p:sp>
        <p:nvSpPr>
          <p:cNvPr id="66" name="Shape 64"/>
          <p:cNvSpPr/>
          <p:nvPr/>
        </p:nvSpPr>
        <p:spPr>
          <a:xfrm>
            <a:off x="4544568" y="5742432"/>
            <a:ext cx="3108960" cy="512064"/>
          </a:xfrm>
          <a:prstGeom prst="roundRect">
            <a:avLst>
              <a:gd name="adj" fmla="val 21429"/>
            </a:avLst>
          </a:prstGeom>
          <a:solidFill>
            <a:srgbClr val="54D7FF">
              <a:alpha val="95000"/>
            </a:srgbClr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00016" y="590702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90D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INTERACTIVE WEB WORKBENCH</a:t>
            </a:r>
            <a:endParaRPr lang="en-US" sz="10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LANGUAGE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68580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language — not a calculator grammar.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8640" y="13441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NexCC compiles a deliberately bounded C-like language with pointers, structs, arrays, recursion and dynamic memory.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21792" y="1938528"/>
            <a:ext cx="5166360" cy="4224528"/>
          </a:xfrm>
          <a:prstGeom prst="roundRect">
            <a:avLst>
              <a:gd name="adj" fmla="val 3030"/>
            </a:avLst>
          </a:prstGeom>
          <a:solidFill>
            <a:srgbClr val="0C1118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" y="2066544"/>
            <a:ext cx="73152" cy="73152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5256" y="2066544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4128" y="2066544"/>
            <a:ext cx="73152" cy="73152"/>
          </a:xfrm>
          <a:prstGeom prst="ellipse">
            <a:avLst/>
          </a:prstGeom>
          <a:solidFill>
            <a:srgbClr val="6EF0B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88720" y="2025396"/>
            <a:ext cx="4416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5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linked_list.c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77240" y="2286000"/>
            <a:ext cx="4855464" cy="3767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struct Node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int value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struct Node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next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main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struct Node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n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malloc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sizeof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struct Node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&gt;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value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42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&gt;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print_int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&gt;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value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free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13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6199632" y="1975104"/>
            <a:ext cx="5285232" cy="530352"/>
          </a:xfrm>
          <a:prstGeom prst="roundRect">
            <a:avLst>
              <a:gd name="adj" fmla="val 20690"/>
            </a:avLst>
          </a:prstGeom>
          <a:solidFill>
            <a:srgbClr val="11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99632" y="1975104"/>
            <a:ext cx="73152" cy="530352"/>
          </a:xfrm>
          <a:prstGeom prst="rect">
            <a:avLst/>
          </a:prstGeom>
          <a:solidFill>
            <a:srgbClr val="54D7FF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206654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32-bit model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7818120" y="206654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i32 · 32-bit pointers · little-endian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6199632" y="2642616"/>
            <a:ext cx="5285232" cy="530352"/>
          </a:xfrm>
          <a:prstGeom prst="roundRect">
            <a:avLst>
              <a:gd name="adj" fmla="val 20690"/>
            </a:avLst>
          </a:prstGeom>
          <a:solidFill>
            <a:srgbClr val="11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99632" y="2642616"/>
            <a:ext cx="73152" cy="530352"/>
          </a:xfrm>
          <a:prstGeom prst="rect">
            <a:avLst/>
          </a:prstGeom>
          <a:solidFill>
            <a:srgbClr val="6EF0B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27340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</a:t>
            </a:r>
            <a:endParaRPr lang="en-US" sz="1120" dirty="0"/>
          </a:p>
        </p:txBody>
      </p:sp>
      <p:sp>
        <p:nvSpPr>
          <p:cNvPr id="51" name="Text 49"/>
          <p:cNvSpPr/>
          <p:nvPr/>
        </p:nvSpPr>
        <p:spPr>
          <a:xfrm>
            <a:off x="7818120" y="273405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stack ↓ · heap ↑ · static strings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6199632" y="3310128"/>
            <a:ext cx="5285232" cy="530352"/>
          </a:xfrm>
          <a:prstGeom prst="roundRect">
            <a:avLst>
              <a:gd name="adj" fmla="val 20690"/>
            </a:avLst>
          </a:prstGeom>
          <a:solidFill>
            <a:srgbClr val="11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99632" y="3310128"/>
            <a:ext cx="73152" cy="53035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34015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flow</a:t>
            </a:r>
            <a:endParaRPr lang="en-US" sz="1120" dirty="0"/>
          </a:p>
        </p:txBody>
      </p:sp>
      <p:sp>
        <p:nvSpPr>
          <p:cNvPr id="55" name="Text 53"/>
          <p:cNvSpPr/>
          <p:nvPr/>
        </p:nvSpPr>
        <p:spPr>
          <a:xfrm>
            <a:off x="7818120" y="340156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if/else · while · for · break/continue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6199632" y="3977640"/>
            <a:ext cx="5285232" cy="530352"/>
          </a:xfrm>
          <a:prstGeom prst="roundRect">
            <a:avLst>
              <a:gd name="adj" fmla="val 20690"/>
            </a:avLst>
          </a:prstGeom>
          <a:solidFill>
            <a:srgbClr val="11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99632" y="3977640"/>
            <a:ext cx="73152" cy="53035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46520" y="40690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120" dirty="0"/>
          </a:p>
        </p:txBody>
      </p:sp>
      <p:sp>
        <p:nvSpPr>
          <p:cNvPr id="59" name="Text 57"/>
          <p:cNvSpPr/>
          <p:nvPr/>
        </p:nvSpPr>
        <p:spPr>
          <a:xfrm>
            <a:off x="7818120" y="406908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char · bool · arrays · structs · T*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6199632" y="4645152"/>
            <a:ext cx="5285232" cy="530352"/>
          </a:xfrm>
          <a:prstGeom prst="roundRect">
            <a:avLst>
              <a:gd name="adj" fmla="val 20690"/>
            </a:avLst>
          </a:prstGeom>
          <a:solidFill>
            <a:srgbClr val="11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99632" y="4645152"/>
            <a:ext cx="73152" cy="530352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46520" y="47365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</a:t>
            </a:r>
            <a:endParaRPr lang="en-US" sz="1120" dirty="0"/>
          </a:p>
        </p:txBody>
      </p:sp>
      <p:sp>
        <p:nvSpPr>
          <p:cNvPr id="63" name="Text 61"/>
          <p:cNvSpPr/>
          <p:nvPr/>
        </p:nvSpPr>
        <p:spPr>
          <a:xfrm>
            <a:off x="7818120" y="473659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malloc/free · print_int · print_str</a:t>
            </a:r>
            <a:endParaRPr lang="en-US" sz="860" dirty="0"/>
          </a:p>
        </p:txBody>
      </p:sp>
      <p:sp>
        <p:nvSpPr>
          <p:cNvPr id="64" name="Shape 62"/>
          <p:cNvSpPr/>
          <p:nvPr/>
        </p:nvSpPr>
        <p:spPr>
          <a:xfrm>
            <a:off x="6199632" y="5312664"/>
            <a:ext cx="5285232" cy="530352"/>
          </a:xfrm>
          <a:prstGeom prst="roundRect">
            <a:avLst>
              <a:gd name="adj" fmla="val 20690"/>
            </a:avLst>
          </a:prstGeom>
          <a:solidFill>
            <a:srgbClr val="11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99632" y="5312664"/>
            <a:ext cx="73152" cy="530352"/>
          </a:xfrm>
          <a:prstGeom prst="rect">
            <a:avLst/>
          </a:prstGeom>
          <a:solidFill>
            <a:srgbClr val="6AA6FF"/>
          </a:solidFill>
          <a:ln w="12700">
            <a:solidFill>
              <a:srgbClr val="6AA6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46520" y="54041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Boundaries</a:t>
            </a:r>
            <a:endParaRPr lang="en-US" sz="1120" dirty="0"/>
          </a:p>
        </p:txBody>
      </p:sp>
      <p:sp>
        <p:nvSpPr>
          <p:cNvPr id="67" name="Text 65"/>
          <p:cNvSpPr/>
          <p:nvPr/>
        </p:nvSpPr>
        <p:spPr>
          <a:xfrm>
            <a:off x="7818120" y="540410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no float · no preprocessor · no goto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LEXICAL ANALYSIS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68580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Lexing you can inspect.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8640" y="13441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automata engine powers both classroom visualizations and the production C lexer.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13232" y="1965960"/>
            <a:ext cx="1572768" cy="475488"/>
          </a:xfrm>
          <a:prstGeom prst="roundRect">
            <a:avLst>
              <a:gd name="adj" fmla="val 23077"/>
            </a:avLst>
          </a:prstGeom>
          <a:solidFill>
            <a:srgbClr val="121A25"/>
          </a:solidFill>
          <a:ln w="15240">
            <a:solidFill>
              <a:srgbClr val="FFC8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21214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LEXICAL RULE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203704"/>
            <a:ext cx="411480" cy="0"/>
          </a:xfrm>
          <a:prstGeom prst="line">
            <a:avLst/>
          </a:prstGeom>
          <a:noFill/>
          <a:ln w="1651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788920" y="1965960"/>
            <a:ext cx="1572768" cy="475488"/>
          </a:xfrm>
          <a:prstGeom prst="roundRect">
            <a:avLst>
              <a:gd name="adj" fmla="val 23077"/>
            </a:avLst>
          </a:prstGeom>
          <a:solidFill>
            <a:srgbClr val="121A25"/>
          </a:solidFill>
          <a:ln w="15240">
            <a:solidFill>
              <a:srgbClr val="6EF0B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43784" y="21214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NFA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61688" y="2203704"/>
            <a:ext cx="420624" cy="0"/>
          </a:xfrm>
          <a:prstGeom prst="line">
            <a:avLst/>
          </a:prstGeom>
          <a:noFill/>
          <a:ln w="1651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873752" y="1965960"/>
            <a:ext cx="1572768" cy="475488"/>
          </a:xfrm>
          <a:prstGeom prst="roundRect">
            <a:avLst>
              <a:gd name="adj" fmla="val 23077"/>
            </a:avLst>
          </a:prstGeom>
          <a:solidFill>
            <a:srgbClr val="121A25"/>
          </a:solidFill>
          <a:ln w="15240">
            <a:solidFill>
              <a:srgbClr val="54D7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28616" y="21214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DFA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46520" y="2203704"/>
            <a:ext cx="429768" cy="0"/>
          </a:xfrm>
          <a:prstGeom prst="line">
            <a:avLst/>
          </a:prstGeom>
          <a:noFill/>
          <a:ln w="1651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967728" y="1965960"/>
            <a:ext cx="1572768" cy="475488"/>
          </a:xfrm>
          <a:prstGeom prst="roundRect">
            <a:avLst>
              <a:gd name="adj" fmla="val 23077"/>
            </a:avLst>
          </a:prstGeom>
          <a:solidFill>
            <a:srgbClr val="121A25"/>
          </a:solidFill>
          <a:ln w="15240">
            <a:solidFill>
              <a:srgbClr val="B99C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22592" y="21214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MIN DFA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540496" y="2203704"/>
            <a:ext cx="512064" cy="0"/>
          </a:xfrm>
          <a:prstGeom prst="line">
            <a:avLst/>
          </a:prstGeom>
          <a:noFill/>
          <a:ln w="1651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144000" y="1965960"/>
            <a:ext cx="1572768" cy="475488"/>
          </a:xfrm>
          <a:prstGeom prst="roundRect">
            <a:avLst>
              <a:gd name="adj" fmla="val 23077"/>
            </a:avLst>
          </a:prstGeom>
          <a:solidFill>
            <a:srgbClr val="121A25"/>
          </a:solidFill>
          <a:ln w="15240">
            <a:solidFill>
              <a:srgbClr val="6AA6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98864" y="21214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A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TOKENS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3232" y="2761488"/>
            <a:ext cx="1828800" cy="1417320"/>
          </a:xfrm>
          <a:prstGeom prst="roundRect">
            <a:avLst>
              <a:gd name="adj" fmla="val 9032"/>
            </a:avLst>
          </a:prstGeom>
          <a:solidFill>
            <a:srgbClr val="0C1118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688" y="3191256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[a-zA-Z_]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[a-zA-Z0-9_]*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79776" y="2761488"/>
            <a:ext cx="1847088" cy="1417320"/>
          </a:xfrm>
          <a:prstGeom prst="roundRect">
            <a:avLst>
              <a:gd name="adj" fmla="val 9032"/>
            </a:avLst>
          </a:prstGeom>
          <a:solidFill>
            <a:srgbClr val="0C1118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81528" y="3364992"/>
            <a:ext cx="201168" cy="201168"/>
          </a:xfrm>
          <a:prstGeom prst="ellipse">
            <a:avLst/>
          </a:prstGeom>
          <a:solidFill>
            <a:srgbClr val="6EF0B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85032" y="3035808"/>
            <a:ext cx="201168" cy="201168"/>
          </a:xfrm>
          <a:prstGeom prst="ellipse">
            <a:avLst/>
          </a:prstGeom>
          <a:solidFill>
            <a:srgbClr val="6EF0B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087368" y="3364992"/>
            <a:ext cx="201168" cy="201168"/>
          </a:xfrm>
          <a:prstGeom prst="ellipse">
            <a:avLst/>
          </a:prstGeom>
          <a:solidFill>
            <a:srgbClr val="6EF0B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82696" y="3438144"/>
            <a:ext cx="393192" cy="-246888"/>
          </a:xfrm>
          <a:prstGeom prst="line">
            <a:avLst/>
          </a:prstGeom>
          <a:noFill/>
          <a:ln w="15240">
            <a:solidFill>
              <a:srgbClr val="6EF0B1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886200" y="3200400"/>
            <a:ext cx="210312" cy="201168"/>
          </a:xfrm>
          <a:prstGeom prst="line">
            <a:avLst/>
          </a:prstGeom>
          <a:noFill/>
          <a:ln w="15240">
            <a:solidFill>
              <a:srgbClr val="6EF0B1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3438144" y="32004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ε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855464" y="2761488"/>
            <a:ext cx="1847088" cy="1417320"/>
          </a:xfrm>
          <a:prstGeom prst="roundRect">
            <a:avLst>
              <a:gd name="adj" fmla="val 9032"/>
            </a:avLst>
          </a:prstGeom>
          <a:solidFill>
            <a:srgbClr val="0C1118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66360" y="3364992"/>
            <a:ext cx="201168" cy="201168"/>
          </a:xfrm>
          <a:prstGeom prst="ellipse">
            <a:avLst/>
          </a:prstGeom>
          <a:solidFill>
            <a:srgbClr val="54D7FF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97880" y="3364992"/>
            <a:ext cx="201168" cy="201168"/>
          </a:xfrm>
          <a:prstGeom prst="ellipse">
            <a:avLst/>
          </a:prstGeom>
          <a:solidFill>
            <a:srgbClr val="54D7FF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67528" y="3465576"/>
            <a:ext cx="521208" cy="0"/>
          </a:xfrm>
          <a:prstGeom prst="line">
            <a:avLst/>
          </a:prstGeom>
          <a:noFill/>
          <a:ln w="15240">
            <a:solidFill>
              <a:srgbClr val="54D7FF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715000" y="3017520"/>
            <a:ext cx="594360" cy="685800"/>
          </a:xfrm>
          <a:prstGeom prst="arc">
            <a:avLst/>
          </a:prstGeom>
          <a:solidFill>
            <a:srgbClr val="0C1118">
              <a:alpha val="0"/>
            </a:srgbClr>
          </a:solidFill>
          <a:ln w="13970">
            <a:solidFill>
              <a:srgbClr val="54D7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30952" y="3776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letter / digit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6940296" y="2761488"/>
            <a:ext cx="1847088" cy="1417320"/>
          </a:xfrm>
          <a:prstGeom prst="roundRect">
            <a:avLst>
              <a:gd name="adj" fmla="val 9032"/>
            </a:avLst>
          </a:prstGeom>
          <a:solidFill>
            <a:srgbClr val="0C1118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269480" y="3364992"/>
            <a:ext cx="201168" cy="201168"/>
          </a:xfrm>
          <a:prstGeom prst="ellipse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46136" y="3337560"/>
            <a:ext cx="256032" cy="256032"/>
          </a:xfrm>
          <a:prstGeom prst="ellipse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70648" y="3465576"/>
            <a:ext cx="475488" cy="0"/>
          </a:xfrm>
          <a:prstGeom prst="line">
            <a:avLst/>
          </a:prstGeom>
          <a:noFill/>
          <a:ln w="15240">
            <a:solidFill>
              <a:srgbClr val="B99CFF"/>
            </a:solidFill>
            <a:prstDash val="solid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7278624" y="38221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states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9079992" y="2761488"/>
            <a:ext cx="2432304" cy="1417320"/>
          </a:xfrm>
          <a:prstGeom prst="roundRect">
            <a:avLst>
              <a:gd name="adj" fmla="val 9032"/>
            </a:avLst>
          </a:prstGeom>
          <a:solidFill>
            <a:srgbClr val="0C1118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281160" y="3054096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111821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354312" y="3108960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KW_IF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281160" y="3300984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11182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354312" y="335584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281160" y="3547872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11182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354312" y="3602736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LPAREN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281160" y="379476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111821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354312" y="3849624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9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051560" y="4800600"/>
            <a:ext cx="10085832" cy="960120"/>
          </a:xfrm>
          <a:prstGeom prst="roundRect">
            <a:avLst>
              <a:gd name="adj" fmla="val 13333"/>
            </a:avLst>
          </a:prstGeom>
          <a:solidFill>
            <a:srgbClr val="10161E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53312" y="5074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MAXIMAL MUNCH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2743200" y="511149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longest valid prefix wins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029200" y="4946904"/>
            <a:ext cx="0" cy="621792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58384" y="5074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PRIORITY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6812280" y="51114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ties resolve by earlier rule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9015984" y="51114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→ KW_IF, not IDENT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 ANALYSIS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68580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Parsing is an experiment, not a black box.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8640" y="13441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grammar lab exposes transformations, tables, item sets, conflicts and derivation traces side-by-side.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1956816"/>
            <a:ext cx="2880360" cy="2057400"/>
          </a:xfrm>
          <a:prstGeom prst="roundRect">
            <a:avLst>
              <a:gd name="adj" fmla="val 6222"/>
            </a:avLst>
          </a:prstGeom>
          <a:solidFill>
            <a:srgbClr val="0C1118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" y="2084832"/>
            <a:ext cx="73152" cy="73152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3544" y="2084832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2416" y="2084832"/>
            <a:ext cx="73152" cy="73152"/>
          </a:xfrm>
          <a:prstGeom prst="ellipse">
            <a:avLst/>
          </a:prstGeom>
          <a:solidFill>
            <a:srgbClr val="6EF0B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07008" y="2043684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5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expression.grammar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95528" y="2304288"/>
            <a:ext cx="2569464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  → E + T | T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  → T * F | 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  → ( E ) | id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640080" y="4187952"/>
            <a:ext cx="2880360" cy="1417320"/>
          </a:xfrm>
          <a:prstGeom prst="roundRect">
            <a:avLst>
              <a:gd name="adj" fmla="val 9032"/>
            </a:avLst>
          </a:prstGeom>
          <a:solidFill>
            <a:srgbClr val="10161E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7824" y="4434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GRAMMAR TOOLING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877824" y="4736592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 recursion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 factoring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/ FOLLOW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ambiguity witness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931920" y="2057400"/>
            <a:ext cx="214884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96512" y="220370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LL(1)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46320" y="22219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top-down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096512" y="25328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+ trace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6446520" y="2057400"/>
            <a:ext cx="214884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11112" y="220370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LR(0)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360920" y="22219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lookahead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611112" y="25328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+ trace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8961120" y="2057400"/>
            <a:ext cx="214884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25712" y="220370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SLR(1)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875520" y="22219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sets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125712" y="25328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+ trace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3931920" y="3291840"/>
            <a:ext cx="214884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6512" y="343814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CLR(1)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846320" y="345643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LR(1) items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096512" y="37673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+ trace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6446520" y="3291840"/>
            <a:ext cx="214884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6AA6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11112" y="343814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A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LALR(1)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360920" y="345643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merged cores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611112" y="37673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+ trace</a:t>
            </a:r>
            <a:endParaRPr lang="en-US" sz="860" dirty="0"/>
          </a:p>
        </p:txBody>
      </p:sp>
      <p:sp>
        <p:nvSpPr>
          <p:cNvPr id="67" name="Shape 65"/>
          <p:cNvSpPr/>
          <p:nvPr/>
        </p:nvSpPr>
        <p:spPr>
          <a:xfrm>
            <a:off x="6446520" y="4617720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0E151F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20840" y="482803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6B7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CONFLICT DIAGNOSTIC</a:t>
            </a:r>
            <a:endParaRPr lang="en-US" sz="920" dirty="0"/>
          </a:p>
        </p:txBody>
      </p:sp>
      <p:sp>
        <p:nvSpPr>
          <p:cNvPr id="69" name="Text 67"/>
          <p:cNvSpPr/>
          <p:nvPr/>
        </p:nvSpPr>
        <p:spPr>
          <a:xfrm>
            <a:off x="6720840" y="51755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I12 · lookahead else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9281160" y="51755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shift / reduce conflict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 JOURNEY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68580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program. Six representations.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8640" y="13441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NexCC keeps the textbook path visible before moving into modern SSA form.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12648" y="1874520"/>
            <a:ext cx="3291840" cy="3429000"/>
          </a:xfrm>
          <a:prstGeom prst="roundRect">
            <a:avLst>
              <a:gd name="adj" fmla="val 3889"/>
            </a:avLst>
          </a:prstGeom>
          <a:solidFill>
            <a:srgbClr val="0C1118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2002536"/>
            <a:ext cx="73152" cy="73152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6112" y="2002536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4984" y="2002536"/>
            <a:ext cx="73152" cy="73152"/>
          </a:xfrm>
          <a:prstGeom prst="ellipse">
            <a:avLst/>
          </a:prstGeom>
          <a:solidFill>
            <a:srgbClr val="6EF0B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79576" y="196138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5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source.c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68096" y="2221992"/>
            <a:ext cx="2980944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 a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int 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int x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a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b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x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&gt;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x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x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4343400" y="1938528"/>
            <a:ext cx="1993392" cy="1078992"/>
          </a:xfrm>
          <a:prstGeom prst="roundRect">
            <a:avLst>
              <a:gd name="adj" fmla="val 11864"/>
            </a:avLst>
          </a:prstGeom>
          <a:solidFill>
            <a:srgbClr val="11182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9704" y="207568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AST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480560" y="245973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syntax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336792" y="2478024"/>
            <a:ext cx="219456" cy="0"/>
          </a:xfrm>
          <a:prstGeom prst="line">
            <a:avLst/>
          </a:prstGeom>
          <a:noFill/>
          <a:ln w="14605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702552" y="1938528"/>
            <a:ext cx="1993392" cy="1078992"/>
          </a:xfrm>
          <a:prstGeom prst="roundRect">
            <a:avLst>
              <a:gd name="adj" fmla="val 11864"/>
            </a:avLst>
          </a:prstGeom>
          <a:solidFill>
            <a:srgbClr val="111821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48856" y="207568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HIR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39712" y="245973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+ desugared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8695944" y="2478024"/>
            <a:ext cx="219456" cy="0"/>
          </a:xfrm>
          <a:prstGeom prst="line">
            <a:avLst/>
          </a:prstGeom>
          <a:noFill/>
          <a:ln w="14605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061704" y="1938528"/>
            <a:ext cx="1993392" cy="1078992"/>
          </a:xfrm>
          <a:prstGeom prst="roundRect">
            <a:avLst>
              <a:gd name="adj" fmla="val 11864"/>
            </a:avLst>
          </a:prstGeom>
          <a:solidFill>
            <a:srgbClr val="11182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08008" y="207568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TAC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198864" y="245973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quadruples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10058400" y="3017520"/>
            <a:ext cx="0" cy="329184"/>
          </a:xfrm>
          <a:prstGeom prst="line">
            <a:avLst/>
          </a:prstGeom>
          <a:noFill/>
          <a:ln w="14605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343400" y="3493008"/>
            <a:ext cx="1993392" cy="1078992"/>
          </a:xfrm>
          <a:prstGeom prst="roundRect">
            <a:avLst>
              <a:gd name="adj" fmla="val 11864"/>
            </a:avLst>
          </a:prstGeom>
          <a:solidFill>
            <a:srgbClr val="111821"/>
          </a:solidFill>
          <a:ln w="12700">
            <a:solidFill>
              <a:srgbClr val="6AA6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89704" y="363016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A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BLOCKS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480560" y="401421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6336792" y="4032504"/>
            <a:ext cx="219456" cy="0"/>
          </a:xfrm>
          <a:prstGeom prst="line">
            <a:avLst/>
          </a:prstGeom>
          <a:noFill/>
          <a:ln w="14605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702552" y="3493008"/>
            <a:ext cx="1993392" cy="1078992"/>
          </a:xfrm>
          <a:prstGeom prst="roundRect">
            <a:avLst>
              <a:gd name="adj" fmla="val 11864"/>
            </a:avLst>
          </a:prstGeom>
          <a:solidFill>
            <a:srgbClr val="111821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48856" y="363016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CFG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839712" y="401421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edges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8695944" y="4032504"/>
            <a:ext cx="219456" cy="0"/>
          </a:xfrm>
          <a:prstGeom prst="line">
            <a:avLst/>
          </a:prstGeom>
          <a:noFill/>
          <a:ln w="14605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061704" y="3493008"/>
            <a:ext cx="1993392" cy="1078992"/>
          </a:xfrm>
          <a:prstGeom prst="roundRect">
            <a:avLst>
              <a:gd name="adj" fmla="val 11864"/>
            </a:avLst>
          </a:prstGeom>
          <a:solidFill>
            <a:srgbClr val="111821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08008" y="363016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SSA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198864" y="401421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definition</a:t>
            </a:r>
            <a:endParaRPr lang="en-US" sz="920" dirty="0"/>
          </a:p>
        </p:txBody>
      </p:sp>
      <p:sp>
        <p:nvSpPr>
          <p:cNvPr id="67" name="Shape 65"/>
          <p:cNvSpPr/>
          <p:nvPr/>
        </p:nvSpPr>
        <p:spPr>
          <a:xfrm>
            <a:off x="4343400" y="5257800"/>
            <a:ext cx="6739128" cy="749808"/>
          </a:xfrm>
          <a:prstGeom prst="roundRect">
            <a:avLst>
              <a:gd name="adj" fmla="val 17073"/>
            </a:avLst>
          </a:prstGeom>
          <a:solidFill>
            <a:srgbClr val="0F151E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53712" y="5486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 example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577840" y="5477256"/>
            <a:ext cx="5248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6F8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t1 = b * 2    t2 = a + t1    if t2 &lt;= 10 goto L1    t3 = t2 - 1</a:t>
            </a:r>
            <a:endParaRPr lang="en-US" sz="8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68580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leaves a trail.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8640" y="13441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pass produces an immutable snapshot — so the user can see what changed and why.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13232" y="1993392"/>
            <a:ext cx="1847088" cy="804672"/>
          </a:xfrm>
          <a:prstGeom prst="roundRect">
            <a:avLst>
              <a:gd name="adj" fmla="val 15909"/>
            </a:avLst>
          </a:prstGeom>
          <a:solidFill>
            <a:srgbClr val="111821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217627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mem2reg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2450592"/>
            <a:ext cx="1627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→ SSA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560320" y="2395728"/>
            <a:ext cx="310896" cy="0"/>
          </a:xfrm>
          <a:prstGeom prst="line">
            <a:avLst/>
          </a:prstGeom>
          <a:noFill/>
          <a:ln w="1397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971800" y="1993392"/>
            <a:ext cx="1847088" cy="804672"/>
          </a:xfrm>
          <a:prstGeom prst="roundRect">
            <a:avLst>
              <a:gd name="adj" fmla="val 15909"/>
            </a:avLst>
          </a:prstGeom>
          <a:solidFill>
            <a:srgbClr val="11182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81528" y="217627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SCCP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081528" y="2450592"/>
            <a:ext cx="1627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constants + reachability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818888" y="2395728"/>
            <a:ext cx="310896" cy="0"/>
          </a:xfrm>
          <a:prstGeom prst="line">
            <a:avLst/>
          </a:prstGeom>
          <a:noFill/>
          <a:ln w="1397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230368" y="1993392"/>
            <a:ext cx="1847088" cy="804672"/>
          </a:xfrm>
          <a:prstGeom prst="roundRect">
            <a:avLst>
              <a:gd name="adj" fmla="val 15909"/>
            </a:avLst>
          </a:prstGeom>
          <a:solidFill>
            <a:srgbClr val="11182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40096" y="217627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GVN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40096" y="2450592"/>
            <a:ext cx="1627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redundancy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7077456" y="2395728"/>
            <a:ext cx="310896" cy="0"/>
          </a:xfrm>
          <a:prstGeom prst="line">
            <a:avLst/>
          </a:prstGeom>
          <a:noFill/>
          <a:ln w="1397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488936" y="1993392"/>
            <a:ext cx="1847088" cy="804672"/>
          </a:xfrm>
          <a:prstGeom prst="roundRect">
            <a:avLst>
              <a:gd name="adj" fmla="val 15909"/>
            </a:avLst>
          </a:prstGeom>
          <a:solidFill>
            <a:srgbClr val="111821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98664" y="217627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LICM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598664" y="2450592"/>
            <a:ext cx="1627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 invariants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9336024" y="2395728"/>
            <a:ext cx="310896" cy="0"/>
          </a:xfrm>
          <a:prstGeom prst="line">
            <a:avLst/>
          </a:prstGeom>
          <a:noFill/>
          <a:ln w="1397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747504" y="1993392"/>
            <a:ext cx="1847088" cy="804672"/>
          </a:xfrm>
          <a:prstGeom prst="roundRect">
            <a:avLst>
              <a:gd name="adj" fmla="val 15909"/>
            </a:avLst>
          </a:prstGeom>
          <a:solidFill>
            <a:srgbClr val="111821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57232" y="217627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7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DCE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857232" y="2450592"/>
            <a:ext cx="1627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 values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713232" y="3154680"/>
            <a:ext cx="6629400" cy="2514600"/>
          </a:xfrm>
          <a:prstGeom prst="roundRect">
            <a:avLst>
              <a:gd name="adj" fmla="val 5091"/>
            </a:avLst>
          </a:prstGeom>
          <a:solidFill>
            <a:srgbClr val="0C1118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0120" y="34015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PASS SNAPSHOT / SCCP</a:t>
            </a:r>
            <a:endParaRPr lang="en-US" sz="940" dirty="0"/>
          </a:p>
        </p:txBody>
      </p:sp>
      <p:sp>
        <p:nvSpPr>
          <p:cNvPr id="59" name="Shape 57"/>
          <p:cNvSpPr/>
          <p:nvPr/>
        </p:nvSpPr>
        <p:spPr>
          <a:xfrm>
            <a:off x="3950208" y="3730752"/>
            <a:ext cx="0" cy="1572768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372160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5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60120" y="4005072"/>
            <a:ext cx="2606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F8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v1 =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6F8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v2 =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6F8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v3 = v1 + v2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6F8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v3 &gt; 0 goto B2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251960" y="372160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5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251960" y="400507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v3 = 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goto B2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261104" y="5056632"/>
            <a:ext cx="1261872" cy="310896"/>
          </a:xfrm>
          <a:prstGeom prst="roundRect">
            <a:avLst>
              <a:gd name="adj" fmla="val 47059"/>
            </a:avLst>
          </a:prstGeom>
          <a:solidFill>
            <a:srgbClr val="151E2A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34256" y="511149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 instructions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605272" y="5056632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151E2A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78424" y="511149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9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 blocks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635240" y="3154680"/>
            <a:ext cx="3840480" cy="2514600"/>
          </a:xfrm>
          <a:prstGeom prst="roundRect">
            <a:avLst>
              <a:gd name="adj" fmla="val 5091"/>
            </a:avLst>
          </a:prstGeom>
          <a:solidFill>
            <a:srgbClr val="10161E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27848" y="341985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DETERMINISTIC LEVELS</a:t>
            </a:r>
            <a:endParaRPr lang="en-US" sz="940" dirty="0"/>
          </a:p>
        </p:txBody>
      </p:sp>
      <p:sp>
        <p:nvSpPr>
          <p:cNvPr id="70" name="Text 68"/>
          <p:cNvSpPr/>
          <p:nvPr/>
        </p:nvSpPr>
        <p:spPr>
          <a:xfrm>
            <a:off x="7973568" y="38770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-O0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613648" y="38770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lang="en-US" sz="930" dirty="0"/>
          </a:p>
        </p:txBody>
      </p:sp>
      <p:sp>
        <p:nvSpPr>
          <p:cNvPr id="72" name="Text 70"/>
          <p:cNvSpPr/>
          <p:nvPr/>
        </p:nvSpPr>
        <p:spPr>
          <a:xfrm>
            <a:off x="7973568" y="42885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-O1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613648" y="42885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mem2reg · SCCP · DCE</a:t>
            </a:r>
            <a:endParaRPr lang="en-US" sz="930" dirty="0"/>
          </a:p>
        </p:txBody>
      </p:sp>
      <p:sp>
        <p:nvSpPr>
          <p:cNvPr id="74" name="Text 72"/>
          <p:cNvSpPr/>
          <p:nvPr/>
        </p:nvSpPr>
        <p:spPr>
          <a:xfrm>
            <a:off x="7973568" y="47000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-O2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613648" y="47000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GVN</a:t>
            </a:r>
            <a:endParaRPr lang="en-US" sz="930" dirty="0"/>
          </a:p>
        </p:txBody>
      </p:sp>
      <p:sp>
        <p:nvSpPr>
          <p:cNvPr id="76" name="Text 74"/>
          <p:cNvSpPr/>
          <p:nvPr/>
        </p:nvSpPr>
        <p:spPr>
          <a:xfrm>
            <a:off x="7973568" y="51114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-O3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613648" y="51114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LICM · fixed-point cleanup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 TARGETS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68580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fork happens after SSA.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8640" y="13441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execution engines consume the same canonical Lowered IR — making differential testing meaningful.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07992" y="1901952"/>
            <a:ext cx="3154680" cy="658368"/>
          </a:xfrm>
          <a:prstGeom prst="roundRect">
            <a:avLst>
              <a:gd name="adj" fmla="val 19444"/>
            </a:avLst>
          </a:prstGeom>
          <a:solidFill>
            <a:srgbClr val="111821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211226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CANONICAL SSA CFG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89904" y="2560320"/>
            <a:ext cx="0" cy="438912"/>
          </a:xfrm>
          <a:prstGeom prst="line">
            <a:avLst/>
          </a:prstGeom>
          <a:noFill/>
          <a:ln w="1651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07992" y="2999232"/>
            <a:ext cx="3154680" cy="822960"/>
          </a:xfrm>
          <a:prstGeom prst="roundRect">
            <a:avLst>
              <a:gd name="adj" fmla="val 15556"/>
            </a:avLst>
          </a:prstGeom>
          <a:solidFill>
            <a:srgbClr val="0F151E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32186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SSA DESTRUCTION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18888" y="350215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edges · φ → parallel copies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6089904" y="3822192"/>
            <a:ext cx="0" cy="365760"/>
          </a:xfrm>
          <a:prstGeom prst="line">
            <a:avLst/>
          </a:prstGeom>
          <a:noFill/>
          <a:ln w="1651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736592" y="4187952"/>
            <a:ext cx="2697480" cy="566928"/>
          </a:xfrm>
          <a:prstGeom prst="roundRect">
            <a:avLst>
              <a:gd name="adj" fmla="val 22581"/>
            </a:avLst>
          </a:prstGeom>
          <a:solidFill>
            <a:srgbClr val="11182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437997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LOWERED IR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13248" y="4754880"/>
            <a:ext cx="-1965960" cy="585216"/>
          </a:xfrm>
          <a:prstGeom prst="line">
            <a:avLst/>
          </a:prstGeom>
          <a:noFill/>
          <a:ln w="1651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766560" y="4754880"/>
            <a:ext cx="1965960" cy="585216"/>
          </a:xfrm>
          <a:prstGeom prst="line">
            <a:avLst/>
          </a:prstGeom>
          <a:noFill/>
          <a:ln w="1651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58368" y="5047488"/>
            <a:ext cx="4572000" cy="1078992"/>
          </a:xfrm>
          <a:prstGeom prst="roundRect">
            <a:avLst>
              <a:gd name="adj" fmla="val 11864"/>
            </a:avLst>
          </a:prstGeom>
          <a:solidFill>
            <a:srgbClr val="10161E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52669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MACHINE TARGET</a:t>
            </a:r>
            <a:endParaRPr lang="en-US" sz="940" dirty="0"/>
          </a:p>
        </p:txBody>
      </p:sp>
      <p:sp>
        <p:nvSpPr>
          <p:cNvPr id="51" name="Text 49"/>
          <p:cNvSpPr/>
          <p:nvPr/>
        </p:nvSpPr>
        <p:spPr>
          <a:xfrm>
            <a:off x="914400" y="5623560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 → instruction selection → liveness → graph coloring → spill rewrite → RV32IM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6958584" y="5047488"/>
            <a:ext cx="4572000" cy="1078992"/>
          </a:xfrm>
          <a:prstGeom prst="roundRect">
            <a:avLst>
              <a:gd name="adj" fmla="val 11864"/>
            </a:avLst>
          </a:prstGeom>
          <a:solidFill>
            <a:srgbClr val="10161E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32904" y="52669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6B7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INTERACTIVE TARGET</a:t>
            </a:r>
            <a:endParaRPr lang="en-US" sz="940" dirty="0"/>
          </a:p>
        </p:txBody>
      </p:sp>
      <p:sp>
        <p:nvSpPr>
          <p:cNvPr id="54" name="Text 52"/>
          <p:cNvSpPr/>
          <p:nvPr/>
        </p:nvSpPr>
        <p:spPr>
          <a:xfrm>
            <a:off x="7232904" y="562356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virtual-register bytecode → VM → shadow memory → execution trace → step back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TIME-TRAVEL DEBUGGING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68580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bugs become visible — and reversible.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8640" y="13441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Bytecode VM records execution state while shadow memory tracks allocation, bounds and initialization.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8368" y="1938528"/>
            <a:ext cx="3794760" cy="3950208"/>
          </a:xfrm>
          <a:prstGeom prst="roundRect">
            <a:avLst>
              <a:gd name="adj" fmla="val 3373"/>
            </a:avLst>
          </a:prstGeom>
          <a:solidFill>
            <a:srgbClr val="0D131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2212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32-BIT ADDRESS SPACE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69264" y="2761488"/>
            <a:ext cx="3154680" cy="438912"/>
          </a:xfrm>
          <a:prstGeom prst="roundRect">
            <a:avLst>
              <a:gd name="adj" fmla="val 16667"/>
            </a:avLst>
          </a:prstGeom>
          <a:solidFill>
            <a:srgbClr val="B99CFF">
              <a:alpha val="18000"/>
            </a:srgbClr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289864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STATIC DATA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69264" y="3310128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6EF0B1">
              <a:alpha val="18000"/>
            </a:srgbClr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" y="344728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HEAP  ↑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69264" y="4352544"/>
            <a:ext cx="3154680" cy="585216"/>
          </a:xfrm>
          <a:prstGeom prst="roundRect">
            <a:avLst>
              <a:gd name="adj" fmla="val 12500"/>
            </a:avLst>
          </a:prstGeom>
          <a:solidFill>
            <a:srgbClr val="66758B">
              <a:alpha val="18000"/>
            </a:srgbClr>
          </a:solidFill>
          <a:ln w="12700">
            <a:solidFill>
              <a:srgbClr val="6675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" y="448970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5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free / unmapped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69264" y="5047488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FFC857">
              <a:alpha val="18000"/>
            </a:srgbClr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518464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STACK 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14400" y="5623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0x00000000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2880360" y="5623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675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0xFFFFFFFF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4782312" y="1938528"/>
            <a:ext cx="6739128" cy="1426464"/>
          </a:xfrm>
          <a:prstGeom prst="roundRect">
            <a:avLst>
              <a:gd name="adj" fmla="val 8974"/>
            </a:avLst>
          </a:prstGeom>
          <a:solidFill>
            <a:srgbClr val="10161E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4920" y="21854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F6B7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SHADOW MEMORY VIOLATION</a:t>
            </a:r>
            <a:endParaRPr lang="en-US" sz="970" dirty="0"/>
          </a:p>
        </p:txBody>
      </p:sp>
      <p:sp>
        <p:nvSpPr>
          <p:cNvPr id="52" name="Text 50"/>
          <p:cNvSpPr/>
          <p:nvPr/>
        </p:nvSpPr>
        <p:spPr>
          <a:xfrm>
            <a:off x="5074920" y="26151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out-of-bounds write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479792" y="265176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arr[5]  →  address outside allocation [0..4]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4782312" y="3675888"/>
            <a:ext cx="6739128" cy="2212848"/>
          </a:xfrm>
          <a:prstGeom prst="roundRect">
            <a:avLst>
              <a:gd name="adj" fmla="val 5785"/>
            </a:avLst>
          </a:prstGeom>
          <a:solidFill>
            <a:srgbClr val="0D131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56632" y="39410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EXECUTION HISTORY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303520" y="4873752"/>
            <a:ext cx="5358384" cy="0"/>
          </a:xfrm>
          <a:prstGeom prst="line">
            <a:avLst/>
          </a:prstGeom>
          <a:noFill/>
          <a:ln w="25400">
            <a:solidFill>
              <a:srgbClr val="26324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45252" y="4786884"/>
            <a:ext cx="173736" cy="173736"/>
          </a:xfrm>
          <a:prstGeom prst="ellipse">
            <a:avLst/>
          </a:prstGeom>
          <a:solidFill>
            <a:srgbClr val="6EF0B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67528" y="50932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t0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633972" y="4786884"/>
            <a:ext cx="173736" cy="173736"/>
          </a:xfrm>
          <a:prstGeom prst="ellipse">
            <a:avLst/>
          </a:prstGeom>
          <a:solidFill>
            <a:srgbClr val="54D7FF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56248" y="50932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822692" y="4786884"/>
            <a:ext cx="173736" cy="17373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44968" y="50932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t2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011412" y="4786884"/>
            <a:ext cx="173736" cy="173736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33688" y="50932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t3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0200132" y="4786884"/>
            <a:ext cx="173736" cy="173736"/>
          </a:xfrm>
          <a:prstGeom prst="ellipse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122408" y="50932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t4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 rot="10800000">
            <a:off x="8101584" y="5458968"/>
            <a:ext cx="530352" cy="292608"/>
          </a:xfrm>
          <a:prstGeom prst="chevron">
            <a:avLst/>
          </a:prstGeom>
          <a:solidFill>
            <a:srgbClr val="54D7FF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68512" y="54772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STEP BACK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5074920" y="550468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registers · PC · memory writes · source line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68580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Nine crates. One compiler story.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8640" y="13441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Boundaries follow the transformations — not arbitrary frontend/backend buckets.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8368" y="1975104"/>
            <a:ext cx="233172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" y="21396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nexcc-automata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795528" y="245973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regex · NFA · DFA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658368" y="3063240"/>
            <a:ext cx="233172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" y="3227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nexcc-grammar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795528" y="35478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LL/LR · SDD/SDT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3182112" y="1975104"/>
            <a:ext cx="233172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9272" y="21396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nexcc-frontend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3319272" y="245973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lexer · parser · HIR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3182112" y="3063240"/>
            <a:ext cx="233172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6AA6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19272" y="3227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6AA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nexcc-ir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3319272" y="35478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 · CFG · SSA · Lowered IR</a:t>
            </a:r>
            <a:endParaRPr lang="en-US" sz="810" dirty="0"/>
          </a:p>
        </p:txBody>
      </p:sp>
      <p:sp>
        <p:nvSpPr>
          <p:cNvPr id="50" name="Shape 48"/>
          <p:cNvSpPr/>
          <p:nvPr/>
        </p:nvSpPr>
        <p:spPr>
          <a:xfrm>
            <a:off x="3182112" y="4151376"/>
            <a:ext cx="233172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9272" y="43159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nexcc-opt</a:t>
            </a:r>
            <a:endParaRPr lang="en-US" sz="960" dirty="0"/>
          </a:p>
        </p:txBody>
      </p:sp>
      <p:sp>
        <p:nvSpPr>
          <p:cNvPr id="52" name="Text 50"/>
          <p:cNvSpPr/>
          <p:nvPr/>
        </p:nvSpPr>
        <p:spPr>
          <a:xfrm>
            <a:off x="3319272" y="463600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mem2reg · SCCP · GVN · LICM · DCE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6053328" y="1975104"/>
            <a:ext cx="233172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0488" y="21396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nexcc-codegen</a:t>
            </a:r>
            <a:endParaRPr lang="en-US" sz="960" dirty="0"/>
          </a:p>
        </p:txBody>
      </p:sp>
      <p:sp>
        <p:nvSpPr>
          <p:cNvPr id="55" name="Text 53"/>
          <p:cNvSpPr/>
          <p:nvPr/>
        </p:nvSpPr>
        <p:spPr>
          <a:xfrm>
            <a:off x="6190488" y="245973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 · regalloc · RV32IM</a:t>
            </a:r>
            <a:endParaRPr lang="en-US" sz="810" dirty="0"/>
          </a:p>
        </p:txBody>
      </p:sp>
      <p:sp>
        <p:nvSpPr>
          <p:cNvPr id="56" name="Shape 54"/>
          <p:cNvSpPr/>
          <p:nvPr/>
        </p:nvSpPr>
        <p:spPr>
          <a:xfrm>
            <a:off x="6053328" y="3063240"/>
            <a:ext cx="233172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0488" y="3227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6B7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nexcc-vm</a:t>
            </a:r>
            <a:endParaRPr lang="en-US" sz="960" dirty="0"/>
          </a:p>
        </p:txBody>
      </p:sp>
      <p:sp>
        <p:nvSpPr>
          <p:cNvPr id="58" name="Text 56"/>
          <p:cNvSpPr/>
          <p:nvPr/>
        </p:nvSpPr>
        <p:spPr>
          <a:xfrm>
            <a:off x="6190488" y="35478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bytecode · shadow · history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8906256" y="1975104"/>
            <a:ext cx="233172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43416" y="21396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nexcc-wasm</a:t>
            </a:r>
            <a:endParaRPr lang="en-US" sz="960" dirty="0"/>
          </a:p>
        </p:txBody>
      </p:sp>
      <p:sp>
        <p:nvSpPr>
          <p:cNvPr id="61" name="Text 59"/>
          <p:cNvSpPr/>
          <p:nvPr/>
        </p:nvSpPr>
        <p:spPr>
          <a:xfrm>
            <a:off x="9043416" y="245973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serialization · controls</a:t>
            </a:r>
            <a:endParaRPr lang="en-US" sz="810" dirty="0"/>
          </a:p>
        </p:txBody>
      </p:sp>
      <p:sp>
        <p:nvSpPr>
          <p:cNvPr id="62" name="Shape 60"/>
          <p:cNvSpPr/>
          <p:nvPr/>
        </p:nvSpPr>
        <p:spPr>
          <a:xfrm>
            <a:off x="8906256" y="3063240"/>
            <a:ext cx="2331720" cy="841248"/>
          </a:xfrm>
          <a:prstGeom prst="roundRect">
            <a:avLst>
              <a:gd name="adj" fmla="val 15217"/>
            </a:avLst>
          </a:prstGeom>
          <a:solidFill>
            <a:srgbClr val="11182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43416" y="3227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nexcc-cli</a:t>
            </a:r>
            <a:endParaRPr lang="en-US" sz="960" dirty="0"/>
          </a:p>
        </p:txBody>
      </p:sp>
      <p:sp>
        <p:nvSpPr>
          <p:cNvPr id="64" name="Text 62"/>
          <p:cNvSpPr/>
          <p:nvPr/>
        </p:nvSpPr>
        <p:spPr>
          <a:xfrm>
            <a:off x="9043416" y="35478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miette diagnostics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2990088" y="2395728"/>
            <a:ext cx="192024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2990088" y="3483864"/>
            <a:ext cx="192024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5513832" y="3483864"/>
            <a:ext cx="539496" cy="-1088136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5513832" y="3483864"/>
            <a:ext cx="539496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8385048" y="2395728"/>
            <a:ext cx="521208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658368" y="5358384"/>
            <a:ext cx="10579608" cy="658368"/>
          </a:xfrm>
          <a:prstGeom prst="roundRect">
            <a:avLst>
              <a:gd name="adj" fmla="val 19444"/>
            </a:avLst>
          </a:prstGeom>
          <a:solidFill>
            <a:srgbClr val="0D141D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6112" y="55961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F8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web/  →  React + TypeScript + Monaco + React Flow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333488" y="55961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entire compiler core runs client-side via WASM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68580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Correctness is a product feature.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8640" y="13441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is designed around invariants that catch compiler bugs before the UI can hide them.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85800" y="1975104"/>
            <a:ext cx="5120640" cy="932688"/>
          </a:xfrm>
          <a:prstGeom prst="roundRect">
            <a:avLst>
              <a:gd name="adj" fmla="val 13725"/>
            </a:avLst>
          </a:prstGeom>
          <a:solidFill>
            <a:srgbClr val="11182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" y="21579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VM == RV32IM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29000" y="215798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stdout + return value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1975104"/>
            <a:ext cx="5120640" cy="932688"/>
          </a:xfrm>
          <a:prstGeom prst="roundRect">
            <a:avLst>
              <a:gd name="adj" fmla="val 13725"/>
            </a:avLst>
          </a:prstGeom>
          <a:solidFill>
            <a:srgbClr val="111821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21579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O0 == O1 == O2 == O3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61120" y="215798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preserves semantics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5800" y="3227832"/>
            <a:ext cx="5120640" cy="932688"/>
          </a:xfrm>
          <a:prstGeom prst="roundRect">
            <a:avLst>
              <a:gd name="adj" fmla="val 13725"/>
            </a:avLst>
          </a:prstGeom>
          <a:solidFill>
            <a:srgbClr val="11182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6968" y="3410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NFA == DFA == MIN DFA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429000" y="34107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regex classifications agree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17920" y="3227832"/>
            <a:ext cx="5120640" cy="932688"/>
          </a:xfrm>
          <a:prstGeom prst="roundRect">
            <a:avLst>
              <a:gd name="adj" fmla="val 13725"/>
            </a:avLst>
          </a:prstGeom>
          <a:solidFill>
            <a:srgbClr val="111821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9088" y="3410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serialize(IR) round-trip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961120" y="34107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survives WASM boundaries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5800" y="4636008"/>
            <a:ext cx="10652760" cy="1170432"/>
          </a:xfrm>
          <a:prstGeom prst="roundRect">
            <a:avLst>
              <a:gd name="adj" fmla="val 10938"/>
            </a:avLst>
          </a:prstGeom>
          <a:solidFill>
            <a:srgbClr val="0C1118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2688" y="4873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7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END-TO-END PROGRAMS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941832" y="5294376"/>
            <a:ext cx="1389888" cy="310896"/>
          </a:xfrm>
          <a:prstGeom prst="roundRect">
            <a:avLst>
              <a:gd name="adj" fmla="val 47059"/>
            </a:avLst>
          </a:prstGeom>
          <a:solidFill>
            <a:srgbClr val="11182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4984" y="534924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Fibonacci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69464" y="5294376"/>
            <a:ext cx="1389888" cy="310896"/>
          </a:xfrm>
          <a:prstGeom prst="roundRect">
            <a:avLst>
              <a:gd name="adj" fmla="val 47059"/>
            </a:avLst>
          </a:prstGeom>
          <a:solidFill>
            <a:srgbClr val="111821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42616" y="534924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Quicksort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97096" y="5294376"/>
            <a:ext cx="1389888" cy="310896"/>
          </a:xfrm>
          <a:prstGeom prst="roundRect">
            <a:avLst>
              <a:gd name="adj" fmla="val 47059"/>
            </a:avLst>
          </a:prstGeom>
          <a:solidFill>
            <a:srgbClr val="111821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70248" y="534924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9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824728" y="5294376"/>
            <a:ext cx="1389888" cy="310896"/>
          </a:xfrm>
          <a:prstGeom prst="roundRect">
            <a:avLst>
              <a:gd name="adj" fmla="val 47059"/>
            </a:avLst>
          </a:prstGeom>
          <a:solidFill>
            <a:srgbClr val="11182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97880" y="534924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Matrix multiply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452360" y="5294376"/>
            <a:ext cx="1389888" cy="310896"/>
          </a:xfrm>
          <a:prstGeom prst="roundRect">
            <a:avLst>
              <a:gd name="adj" fmla="val 47059"/>
            </a:avLst>
          </a:prstGeom>
          <a:solidFill>
            <a:srgbClr val="111821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25512" y="534924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list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079992" y="5294376"/>
            <a:ext cx="1389888" cy="310896"/>
          </a:xfrm>
          <a:prstGeom prst="roundRect">
            <a:avLst>
              <a:gd name="adj" fmla="val 47059"/>
            </a:avLst>
          </a:prstGeom>
          <a:solidFill>
            <a:srgbClr val="111821"/>
          </a:solidFill>
          <a:ln w="12700">
            <a:solidFill>
              <a:srgbClr val="6AA6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53144" y="534924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 sieve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022592" y="490118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golden snapshots · shadow-memory violations · property-based tests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FLOW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68580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five-minute demo can show the entire thesis.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8640" y="13441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is designed so evaluation is visual, progressive and difficult to fake.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31520" y="19659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08760" y="2176272"/>
            <a:ext cx="438912" cy="0"/>
          </a:xfrm>
          <a:prstGeom prst="line">
            <a:avLst/>
          </a:prstGeom>
          <a:noFill/>
          <a:ln w="25400">
            <a:solidFill>
              <a:srgbClr val="6EF0B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1408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LEXER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297680" y="1956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regex → minimized DFA → token stream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1005840" y="2359152"/>
            <a:ext cx="0" cy="41148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27889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08760" y="2999232"/>
            <a:ext cx="438912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21408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A GRAMMAR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297680" y="27797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LL/LR tables + conflict witness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1005840" y="3182112"/>
            <a:ext cx="0" cy="41148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36118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508760" y="3822192"/>
            <a:ext cx="438912" cy="0"/>
          </a:xfrm>
          <a:prstGeom prst="line">
            <a:avLst/>
          </a:prstGeom>
          <a:noFill/>
          <a:ln w="25400">
            <a:solidFill>
              <a:srgbClr val="54D7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21408" y="3584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COMPILE C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297680" y="36027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AST → TAC → CFG → SSA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1005840" y="4005072"/>
            <a:ext cx="0" cy="41148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4348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08760" y="4645152"/>
            <a:ext cx="438912" cy="0"/>
          </a:xfrm>
          <a:prstGeom prst="line">
            <a:avLst/>
          </a:prstGeom>
          <a:noFill/>
          <a:ln w="25400">
            <a:solidFill>
              <a:srgbClr val="B99C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21408" y="4407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297680" y="44256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scrub pass snapshots + diffs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1005840" y="4828032"/>
            <a:ext cx="0" cy="41148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5257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7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08760" y="5468112"/>
            <a:ext cx="438912" cy="0"/>
          </a:xfrm>
          <a:prstGeom prst="line">
            <a:avLst/>
          </a:prstGeom>
          <a:noFill/>
          <a:ln w="25400">
            <a:solidFill>
              <a:srgbClr val="FF6B7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21408" y="5230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&amp; REWIND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297680" y="5248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RV32IM / VM parity + Step Back</a:t>
            </a:r>
            <a:endParaRPr lang="en-US" sz="930" dirty="0"/>
          </a:p>
        </p:txBody>
      </p:sp>
      <p:sp>
        <p:nvSpPr>
          <p:cNvPr id="62" name="Shape 60"/>
          <p:cNvSpPr/>
          <p:nvPr/>
        </p:nvSpPr>
        <p:spPr>
          <a:xfrm>
            <a:off x="8732520" y="1947672"/>
            <a:ext cx="2514600" cy="4041648"/>
          </a:xfrm>
          <a:prstGeom prst="roundRect">
            <a:avLst>
              <a:gd name="adj" fmla="val 5091"/>
            </a:avLst>
          </a:prstGeom>
          <a:solidFill>
            <a:srgbClr val="0C1118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52560" y="225856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PAYOFF</a:t>
            </a:r>
            <a:endParaRPr lang="en-US" sz="960" dirty="0"/>
          </a:p>
        </p:txBody>
      </p:sp>
      <p:sp>
        <p:nvSpPr>
          <p:cNvPr id="64" name="Text 62"/>
          <p:cNvSpPr/>
          <p:nvPr/>
        </p:nvSpPr>
        <p:spPr>
          <a:xfrm>
            <a:off x="9052560" y="2816352"/>
            <a:ext cx="1874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wrapper around LLVM.</a:t>
            </a:r>
            <a:endParaRPr lang="en-US" sz="1120" dirty="0"/>
          </a:p>
          <a:p>
            <a:pPr algn="ctr" indent="0" marL="0">
              <a:buNone/>
            </a:pP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just a parser visualizer.</a:t>
            </a:r>
            <a:endParaRPr lang="en-US" sz="1120" dirty="0"/>
          </a:p>
          <a:p>
            <a:pPr algn="ctr" indent="0" marL="0">
              <a:buNone/>
            </a:pP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just an interpreter.</a:t>
            </a:r>
            <a:endParaRPr lang="en-US" sz="1120" dirty="0"/>
          </a:p>
          <a:p>
            <a:pPr algn="ctr" indent="0" marL="0">
              <a:buNone/>
            </a:pP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just slides about compiler theory.</a:t>
            </a:r>
            <a:endParaRPr lang="en-US" sz="1120" dirty="0"/>
          </a:p>
        </p:txBody>
      </p:sp>
      <p:sp>
        <p:nvSpPr>
          <p:cNvPr id="65" name="Text 63"/>
          <p:cNvSpPr/>
          <p:nvPr/>
        </p:nvSpPr>
        <p:spPr>
          <a:xfrm>
            <a:off x="9052560" y="519379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EF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Textbook fidelity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6EF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6EF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compiler engineering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6EF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6EF0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inspectable execution</a:t>
            </a:r>
            <a:endParaRPr lang="en-US" sz="9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889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4445">
            <a:solidFill>
              <a:srgbClr val="10172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02336"/>
            <a:ext cx="1129284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37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73968" y="109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5B0C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1234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NexCC</a:t>
            </a:r>
            <a:endParaRPr lang="en-US" sz="4600" dirty="0"/>
          </a:p>
        </p:txBody>
      </p:sp>
      <p:sp>
        <p:nvSpPr>
          <p:cNvPr id="37" name="Text 35"/>
          <p:cNvSpPr/>
          <p:nvPr/>
        </p:nvSpPr>
        <p:spPr>
          <a:xfrm>
            <a:off x="658368" y="2029968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SEE THE COMPILER THINK.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58368" y="26974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Classical construction. Modern optimization. Reversible execution.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6364" y="4073652"/>
            <a:ext cx="173736" cy="173736"/>
          </a:xfrm>
          <a:prstGeom prst="ellipse">
            <a:avLst/>
          </a:prstGeom>
          <a:solidFill>
            <a:srgbClr val="6EF0B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" y="4160520"/>
            <a:ext cx="1444752" cy="0"/>
          </a:xfrm>
          <a:prstGeom prst="line">
            <a:avLst/>
          </a:prstGeom>
          <a:noFill/>
          <a:ln w="17780">
            <a:solidFill>
              <a:srgbClr val="2632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4074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regex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53996" y="4073652"/>
            <a:ext cx="173736" cy="17373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32304" y="4160520"/>
            <a:ext cx="1444752" cy="0"/>
          </a:xfrm>
          <a:prstGeom prst="line">
            <a:avLst/>
          </a:prstGeom>
          <a:noFill/>
          <a:ln w="17780">
            <a:solidFill>
              <a:srgbClr val="2632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75104" y="44074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C8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parse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81628" y="4073652"/>
            <a:ext cx="173736" cy="173736"/>
          </a:xfrm>
          <a:prstGeom prst="ellipse">
            <a:avLst/>
          </a:prstGeom>
          <a:solidFill>
            <a:srgbClr val="54D7FF"/>
          </a:solidFill>
          <a:ln w="12700">
            <a:solidFill>
              <a:srgbClr val="54D7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59936" y="4160520"/>
            <a:ext cx="1444752" cy="0"/>
          </a:xfrm>
          <a:prstGeom prst="line">
            <a:avLst/>
          </a:prstGeom>
          <a:noFill/>
          <a:ln w="17780">
            <a:solidFill>
              <a:srgbClr val="2632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02736" y="44074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D7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TAC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509260" y="4073652"/>
            <a:ext cx="173736" cy="173736"/>
          </a:xfrm>
          <a:prstGeom prst="ellipse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87568" y="4160520"/>
            <a:ext cx="1444752" cy="0"/>
          </a:xfrm>
          <a:prstGeom prst="line">
            <a:avLst/>
          </a:prstGeom>
          <a:noFill/>
          <a:ln w="17780">
            <a:solidFill>
              <a:srgbClr val="26324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30368" y="44074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9C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SSA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136892" y="4073652"/>
            <a:ext cx="173736" cy="173736"/>
          </a:xfrm>
          <a:prstGeom prst="ellipse">
            <a:avLst/>
          </a:prstGeom>
          <a:solidFill>
            <a:srgbClr val="6EF0B1"/>
          </a:solidFill>
          <a:ln w="12700">
            <a:solidFill>
              <a:srgbClr val="6EF0B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15200" y="4160520"/>
            <a:ext cx="1444752" cy="0"/>
          </a:xfrm>
          <a:prstGeom prst="line">
            <a:avLst/>
          </a:prstGeom>
          <a:noFill/>
          <a:ln w="17780">
            <a:solidFill>
              <a:srgbClr val="2632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44074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F0B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RV32IM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764524" y="4073652"/>
            <a:ext cx="173736" cy="173736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85632" y="44074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6B7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rewind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470648" y="1261872"/>
            <a:ext cx="4059936" cy="3822192"/>
          </a:xfrm>
          <a:prstGeom prst="roundRect">
            <a:avLst>
              <a:gd name="adj" fmla="val 3349"/>
            </a:avLst>
          </a:prstGeom>
          <a:solidFill>
            <a:srgbClr val="0C1118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18120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</a:t>
            </a:r>
            <a:endParaRPr lang="en-US" sz="3800" dirty="0"/>
          </a:p>
        </p:txBody>
      </p:sp>
      <p:sp>
        <p:nvSpPr>
          <p:cNvPr id="58" name="Text 56"/>
          <p:cNvSpPr/>
          <p:nvPr/>
        </p:nvSpPr>
        <p:spPr>
          <a:xfrm>
            <a:off x="7818120" y="27889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N. Rithvik Sai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5B0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Ch. Jitheswar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818120" y="3858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D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· Dr. Krishna Kishore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18120" y="431596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5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Department of CSE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8368" y="60716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5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PROJECT PRESENTATION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Department of CSE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NexCC — Interactive Optimizing Compiler &amp; Compiler Construction Workbench</dc:title>
  <dc:subject>NexCC Project Presentation</dc:subject>
  <dc:creator>OpenAI</dc:creator>
  <cp:lastModifiedBy>OpenAI</cp:lastModifiedBy>
  <cp:revision>1</cp:revision>
  <dcterms:created xsi:type="dcterms:W3CDTF">2026-09-19T05:45:10Z</dcterms:created>
  <dcterms:modified xsi:type="dcterms:W3CDTF">2026-09-19T05:45:10Z</dcterms:modified>
</cp:coreProperties>
</file>